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agz" charset="1" panose="02000503000000000000"/>
      <p:regular r:id="rId24"/>
    </p:embeddedFont>
    <p:embeddedFont>
      <p:font typeface="Open Sans" charset="1" panose="00000000000000000000"/>
      <p:regular r:id="rId25"/>
    </p:embeddedFont>
    <p:embeddedFont>
      <p:font typeface="Garet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13272" y="-202136"/>
            <a:ext cx="6771080" cy="10691272"/>
            <a:chOff x="0" y="0"/>
            <a:chExt cx="1783330" cy="28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3330" cy="2815808"/>
            </a:xfrm>
            <a:custGeom>
              <a:avLst/>
              <a:gdLst/>
              <a:ahLst/>
              <a:cxnLst/>
              <a:rect r="r" b="b" t="t" l="l"/>
              <a:pathLst>
                <a:path h="2815808" w="1783330">
                  <a:moveTo>
                    <a:pt x="0" y="0"/>
                  </a:moveTo>
                  <a:lnTo>
                    <a:pt x="1783330" y="0"/>
                  </a:lnTo>
                  <a:lnTo>
                    <a:pt x="1783330" y="2815808"/>
                  </a:lnTo>
                  <a:lnTo>
                    <a:pt x="0" y="281580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3330" cy="285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261" y="2765817"/>
            <a:ext cx="18094083" cy="45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0"/>
              </a:lnSpc>
              <a:spcBef>
                <a:spcPct val="0"/>
              </a:spcBef>
            </a:pPr>
            <a:r>
              <a:rPr lang="en-US" sz="25000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BUDSOUND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686775" y="4536836"/>
            <a:ext cx="4873864" cy="4873864"/>
          </a:xfrm>
          <a:custGeom>
            <a:avLst/>
            <a:gdLst/>
            <a:ahLst/>
            <a:cxnLst/>
            <a:rect r="r" b="b" t="t" l="l"/>
            <a:pathLst>
              <a:path h="4873864" w="4873864">
                <a:moveTo>
                  <a:pt x="0" y="0"/>
                </a:moveTo>
                <a:lnTo>
                  <a:pt x="4873864" y="0"/>
                </a:lnTo>
                <a:lnTo>
                  <a:pt x="4873864" y="4873864"/>
                </a:lnTo>
                <a:lnTo>
                  <a:pt x="0" y="487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81311" y="0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9369" y="2807433"/>
            <a:ext cx="6955164" cy="114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8"/>
              </a:lnSpc>
              <a:spcBef>
                <a:spcPct val="0"/>
              </a:spcBef>
            </a:pPr>
            <a:r>
              <a:rPr lang="en-US" sz="6427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9369" y="8039735"/>
            <a:ext cx="1103407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 de solicitud musical en vivo para eventos y DJs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25482"/>
            <a:ext cx="8115300" cy="48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Introduccion - Contexto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Objetivos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Problema - Solución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Metodologia a utilizar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Arquitectura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0625"/>
            <a:ext cx="10432295" cy="10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INDICE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225482"/>
            <a:ext cx="8115300" cy="377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Flujo  cliente - servidor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Riesgos - Seguridad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Alcance  del Proyecto</a:t>
            </a:r>
          </a:p>
          <a:p>
            <a:pPr algn="l">
              <a:lnSpc>
                <a:spcPts val="4339"/>
              </a:lnSpc>
            </a:pP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 spc="-2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Relevancia y  factivilidad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81311" y="229722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8"/>
                </a:lnTo>
                <a:lnTo>
                  <a:pt x="0" y="200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91730"/>
            <a:ext cx="7702084" cy="10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INTRODUCCIÓN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0704"/>
            <a:ext cx="8115300" cy="279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BudSound </a:t>
            </a:r>
            <a:r>
              <a:rPr lang="en-US" sz="2400" strike="noStrike" u="none">
                <a:solidFill>
                  <a:srgbClr val="5A9FD4"/>
                </a:solidFill>
                <a:latin typeface="Open Sans"/>
                <a:ea typeface="Open Sans"/>
                <a:cs typeface="Open Sans"/>
                <a:sym typeface="Open Sans"/>
              </a:rPr>
              <a:t>digitaliza las peticiones</a:t>
            </a: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canciones en eventos con DJ. </a:t>
            </a:r>
          </a:p>
          <a:p>
            <a:pPr algn="just" marL="0" indent="0" lvl="0">
              <a:lnSpc>
                <a:spcPts val="1200"/>
              </a:lnSpc>
            </a:pP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público escanea un QR, elige una canción y la solicita con un </a:t>
            </a:r>
            <a:r>
              <a:rPr lang="en-US" sz="2400" strike="noStrike" u="none">
                <a:solidFill>
                  <a:srgbClr val="5A9FD4"/>
                </a:solidFill>
                <a:latin typeface="Open Sans"/>
                <a:ea typeface="Open Sans"/>
                <a:cs typeface="Open Sans"/>
                <a:sym typeface="Open Sans"/>
              </a:rPr>
              <a:t>incentivo económico</a:t>
            </a: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algn="just" marL="0" indent="0" lvl="0">
              <a:lnSpc>
                <a:spcPts val="1200"/>
              </a:lnSpc>
            </a:pP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DJ </a:t>
            </a:r>
            <a:r>
              <a:rPr lang="en-US" sz="2400" strike="noStrike" u="none">
                <a:solidFill>
                  <a:srgbClr val="5A9FD4"/>
                </a:solidFill>
                <a:latin typeface="Open Sans"/>
                <a:ea typeface="Open Sans"/>
                <a:cs typeface="Open Sans"/>
                <a:sym typeface="Open Sans"/>
              </a:rPr>
              <a:t>acepta o rechaza en tiempo real</a:t>
            </a:r>
            <a:r>
              <a:rPr lang="en-US" sz="24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conservando el control de su set.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160909"/>
            <a:ext cx="6892252" cy="10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7959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41834"/>
            <a:ext cx="8115300" cy="299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8"/>
              </a:lnSpc>
              <a:spcBef>
                <a:spcPct val="0"/>
              </a:spcBef>
            </a:pPr>
            <a:r>
              <a:rPr lang="en-US" sz="23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discotecas, bares y ev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siv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os, la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mús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ica en vi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controla un DJ que decide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ena y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á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ndo.</a:t>
            </a:r>
          </a:p>
          <a:p>
            <a:pPr algn="just" marL="0" indent="0" lvl="0">
              <a:lnSpc>
                <a:spcPts val="1156"/>
              </a:lnSpc>
            </a:pPr>
          </a:p>
          <a:p>
            <a:pPr algn="just" marL="0" indent="0" lvl="0">
              <a:lnSpc>
                <a:spcPts val="3238"/>
              </a:lnSpc>
              <a:spcBef>
                <a:spcPct val="0"/>
              </a:spcBef>
            </a:pP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industria dinámica, con alta rotación de público, donde la experiencia depende en gran parte de la interacción entre el DJ y los asistentes — una interacción que hoy ocurre completamente fuera de cualquier sistema digital.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55956" y="8254956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8"/>
                </a:lnTo>
                <a:lnTo>
                  <a:pt x="0" y="200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1327" y="927244"/>
            <a:ext cx="6892252" cy="8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6"/>
              </a:lnSpc>
            </a:pPr>
            <a:r>
              <a:rPr lang="en-US" sz="6456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OBJETIVO GENERAL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1327" y="2101742"/>
            <a:ext cx="6151661" cy="322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8"/>
              </a:lnSpc>
              <a:spcBef>
                <a:spcPct val="0"/>
              </a:spcBef>
            </a:pPr>
            <a:r>
              <a:rPr lang="en-US" sz="23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Diseñar y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esarr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llar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ción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móvi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que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rm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 a 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 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evento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olic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itar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cion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un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iant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económic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a, y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DJ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gestionar,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acepta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 rechaza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dichas solicitudes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 tiempo real,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digitaliza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 y ord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ando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acción que h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se rea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iza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 man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informal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51455" y="893326"/>
            <a:ext cx="8850798" cy="85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9"/>
              </a:lnSpc>
            </a:pPr>
            <a:r>
              <a:rPr lang="en-US" sz="6460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OBJETIVO 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2786" y="1734632"/>
            <a:ext cx="9009467" cy="42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419" indent="-249709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 los requer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mientos funcionales y no funcion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 partir de la exper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encia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de un DJ.</a:t>
            </a:r>
          </a:p>
          <a:p>
            <a:pPr algn="l">
              <a:lnSpc>
                <a:spcPts val="1156"/>
              </a:lnSpc>
            </a:pPr>
          </a:p>
          <a:p>
            <a:pPr algn="l" marL="499419" indent="-249709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señ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arquitectura de softwar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el modelo de da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que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nticación, cola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 tiempo real y pag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os.</a:t>
            </a:r>
          </a:p>
          <a:p>
            <a:pPr algn="l">
              <a:lnSpc>
                <a:spcPts val="1156"/>
              </a:lnSpc>
            </a:pPr>
          </a:p>
          <a:p>
            <a:pPr algn="l" marL="499419" indent="-249709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v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Participante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de DJ.</a:t>
            </a:r>
          </a:p>
          <a:p>
            <a:pPr algn="l">
              <a:lnSpc>
                <a:spcPts val="1156"/>
              </a:lnSpc>
            </a:pPr>
          </a:p>
          <a:p>
            <a:pPr algn="l" marL="499419" indent="-249709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tegr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 una pasarela de pago (Tran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sb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nk Webpay) que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condi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cob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 a la ac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epta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ción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olicitud.</a:t>
            </a:r>
          </a:p>
          <a:p>
            <a:pPr algn="l">
              <a:lnSpc>
                <a:spcPts val="1156"/>
              </a:lnSpc>
            </a:pPr>
          </a:p>
          <a:p>
            <a:pPr algn="l" marL="499419" indent="-249709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cum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plimiento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 siste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marco legal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icable</a:t>
            </a:r>
            <a:r>
              <a:rPr lang="en-US" sz="231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65871" y="863636"/>
            <a:ext cx="6663152" cy="8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9"/>
              </a:lnSpc>
            </a:pPr>
            <a:r>
              <a:rPr lang="en-US" sz="6459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88146" y="1870441"/>
            <a:ext cx="10019197" cy="216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pú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blico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interru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mpe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fís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 para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canciones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rta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concentraci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1075"/>
              </a:lnSpc>
            </a:pPr>
          </a:p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nado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para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solicitar música.</a:t>
            </a:r>
          </a:p>
          <a:p>
            <a:pPr algn="l">
              <a:lnSpc>
                <a:spcPts val="1075"/>
              </a:lnSpc>
            </a:pPr>
          </a:p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DJ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tie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de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ltrar 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pet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event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284656" y="222535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8"/>
                </a:lnTo>
                <a:lnTo>
                  <a:pt x="0" y="200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832418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Página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31196" y="4362044"/>
            <a:ext cx="6663152" cy="85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8"/>
              </a:lnSpc>
            </a:pPr>
            <a:r>
              <a:rPr lang="en-US" sz="64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88146" y="5436245"/>
            <a:ext cx="10949251" cy="382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BudSound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digitaliza esa inter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acción: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asistente escanea un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QR, busc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una canción y la solicita con 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incentivo económico opcional. El DJ re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cibe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sol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icit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 en tiemp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real y decide si la ace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la rechaza, sin perder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unca el co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rol artístico de su set.</a:t>
            </a:r>
          </a:p>
          <a:p>
            <a:pPr algn="l" marL="0" indent="0" lvl="0">
              <a:lnSpc>
                <a:spcPts val="1075"/>
              </a:lnSpc>
            </a:pPr>
          </a:p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aplicación: 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inicia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sesión, la persona entra co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 part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o como DJ, y ve un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inte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faz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según su rol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1075"/>
              </a:lnSpc>
            </a:pPr>
          </a:p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Participante: Escanea 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QR del even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o,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busca la canción y envía la solici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ud, opc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onalm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ente con un monto com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incentivo.</a:t>
            </a:r>
          </a:p>
          <a:p>
            <a:pPr algn="l">
              <a:lnSpc>
                <a:spcPts val="1075"/>
              </a:lnSpc>
            </a:pPr>
          </a:p>
          <a:p>
            <a:pPr algn="l" marL="464271" indent="-232136" lvl="1">
              <a:lnSpc>
                <a:spcPts val="3010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DJ: Recibe la solicitud en un pa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nel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cola d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kets y dec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si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ace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 o la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rechaza — mantiene el control 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artístico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todo mom</a:t>
            </a: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7808" y="5305425"/>
            <a:ext cx="6258960" cy="193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METODOLOGIA A UTILIZAR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21806" y="5369491"/>
            <a:ext cx="7562850" cy="370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46"/>
              </a:lnSpc>
              <a:spcBef>
                <a:spcPct val="0"/>
              </a:spcBef>
            </a:pPr>
            <a:r>
              <a:rPr lang="en-US" sz="24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eligió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Scrum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rque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aju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 al calenda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lu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cione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quinc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ales y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p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zo 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tricto de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18 semanas de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asignatu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ra.</a:t>
            </a:r>
          </a:p>
          <a:p>
            <a:pPr algn="just" marL="0" indent="0" lvl="0">
              <a:lnSpc>
                <a:spcPts val="1231"/>
              </a:lnSpc>
            </a:pPr>
          </a:p>
          <a:p>
            <a:pPr algn="just" marL="0" indent="0" lvl="0">
              <a:lnSpc>
                <a:spcPts val="3446"/>
              </a:lnSpc>
              <a:spcBef>
                <a:spcPct val="0"/>
              </a:spcBef>
            </a:pP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ganiza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(Spri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 0 al 6)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2 sem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no.</a:t>
            </a:r>
          </a:p>
          <a:p>
            <a:pPr algn="just" marL="0" indent="0" lvl="0">
              <a:lnSpc>
                <a:spcPts val="1231"/>
              </a:lnSpc>
            </a:pPr>
          </a:p>
          <a:p>
            <a:pPr algn="just" marL="0" indent="0" lvl="0">
              <a:lnSpc>
                <a:spcPts val="3446"/>
              </a:lnSpc>
              <a:spcBef>
                <a:spcPct val="0"/>
              </a:spcBef>
            </a:pP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Lo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Sprin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0, 4 y 6 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endieron a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3-4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absorber inves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l,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efac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tor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iz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t-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uac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cumen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ón fi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246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81311" y="0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7808" y="7500399"/>
            <a:ext cx="6258960" cy="228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7"/>
              </a:lnSpc>
            </a:pPr>
            <a:r>
              <a:rPr lang="en-US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Owner: Gabriel Sepúlveda, enfocado en UI/UX y el frontend del DJ.</a:t>
            </a:r>
          </a:p>
          <a:p>
            <a:pPr algn="just">
              <a:lnSpc>
                <a:spcPts val="877"/>
              </a:lnSpc>
            </a:pPr>
          </a:p>
          <a:p>
            <a:pPr algn="just">
              <a:lnSpc>
                <a:spcPts val="877"/>
              </a:lnSpc>
            </a:pPr>
          </a:p>
          <a:p>
            <a:pPr algn="just">
              <a:lnSpc>
                <a:spcPts val="2457"/>
              </a:lnSpc>
            </a:pPr>
            <a:r>
              <a:rPr lang="en-US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Scrum Master: Danahe González, a cargo del backend, base de datos e integraciones.</a:t>
            </a:r>
          </a:p>
          <a:p>
            <a:pPr algn="just">
              <a:lnSpc>
                <a:spcPts val="877"/>
              </a:lnSpc>
            </a:pPr>
          </a:p>
          <a:p>
            <a:pPr algn="just">
              <a:lnSpc>
                <a:spcPts val="877"/>
              </a:lnSpc>
            </a:pPr>
          </a:p>
          <a:p>
            <a:pPr algn="just" marL="0" indent="0" lvl="0">
              <a:lnSpc>
                <a:spcPts val="2457"/>
              </a:lnSpc>
              <a:spcBef>
                <a:spcPct val="0"/>
              </a:spcBef>
            </a:pPr>
            <a:r>
              <a:rPr lang="en-US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Equipo de desarrollo: Todo el equipo, abordan en conjunto los pagos y el frontend del Participante.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4027" y="8280311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77755" y="5865961"/>
            <a:ext cx="3248867" cy="927274"/>
          </a:xfrm>
          <a:custGeom>
            <a:avLst/>
            <a:gdLst/>
            <a:ahLst/>
            <a:cxnLst/>
            <a:rect r="r" b="b" t="t" l="l"/>
            <a:pathLst>
              <a:path h="927274" w="3248867">
                <a:moveTo>
                  <a:pt x="0" y="0"/>
                </a:moveTo>
                <a:lnTo>
                  <a:pt x="3248867" y="0"/>
                </a:lnTo>
                <a:lnTo>
                  <a:pt x="3248867" y="927274"/>
                </a:lnTo>
                <a:lnTo>
                  <a:pt x="0" y="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0792" y="7031360"/>
            <a:ext cx="2983796" cy="1828253"/>
          </a:xfrm>
          <a:custGeom>
            <a:avLst/>
            <a:gdLst/>
            <a:ahLst/>
            <a:cxnLst/>
            <a:rect r="r" b="b" t="t" l="l"/>
            <a:pathLst>
              <a:path h="1828253" w="2983796">
                <a:moveTo>
                  <a:pt x="0" y="0"/>
                </a:moveTo>
                <a:lnTo>
                  <a:pt x="2983795" y="0"/>
                </a:lnTo>
                <a:lnTo>
                  <a:pt x="2983795" y="1828253"/>
                </a:lnTo>
                <a:lnTo>
                  <a:pt x="0" y="182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77755" y="4337909"/>
            <a:ext cx="3147866" cy="1444922"/>
          </a:xfrm>
          <a:custGeom>
            <a:avLst/>
            <a:gdLst/>
            <a:ahLst/>
            <a:cxnLst/>
            <a:rect r="r" b="b" t="t" l="l"/>
            <a:pathLst>
              <a:path h="1444922" w="3147866">
                <a:moveTo>
                  <a:pt x="0" y="0"/>
                </a:moveTo>
                <a:lnTo>
                  <a:pt x="3147866" y="0"/>
                </a:lnTo>
                <a:lnTo>
                  <a:pt x="3147866" y="1444922"/>
                </a:lnTo>
                <a:lnTo>
                  <a:pt x="0" y="1444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5828" y="2480550"/>
            <a:ext cx="2433723" cy="1619532"/>
          </a:xfrm>
          <a:custGeom>
            <a:avLst/>
            <a:gdLst/>
            <a:ahLst/>
            <a:cxnLst/>
            <a:rect r="r" b="b" t="t" l="l"/>
            <a:pathLst>
              <a:path h="1619532" w="2433723">
                <a:moveTo>
                  <a:pt x="0" y="0"/>
                </a:moveTo>
                <a:lnTo>
                  <a:pt x="2433723" y="0"/>
                </a:lnTo>
                <a:lnTo>
                  <a:pt x="2433723" y="1619532"/>
                </a:lnTo>
                <a:lnTo>
                  <a:pt x="0" y="1619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8188" y="890591"/>
            <a:ext cx="1269002" cy="1269002"/>
          </a:xfrm>
          <a:custGeom>
            <a:avLst/>
            <a:gdLst/>
            <a:ahLst/>
            <a:cxnLst/>
            <a:rect r="r" b="b" t="t" l="l"/>
            <a:pathLst>
              <a:path h="1269002" w="1269002">
                <a:moveTo>
                  <a:pt x="0" y="0"/>
                </a:moveTo>
                <a:lnTo>
                  <a:pt x="1269003" y="0"/>
                </a:lnTo>
                <a:lnTo>
                  <a:pt x="1269003" y="1269002"/>
                </a:lnTo>
                <a:lnTo>
                  <a:pt x="0" y="1269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80336" y="8090728"/>
            <a:ext cx="3947896" cy="2963202"/>
          </a:xfrm>
          <a:custGeom>
            <a:avLst/>
            <a:gdLst/>
            <a:ahLst/>
            <a:cxnLst/>
            <a:rect r="r" b="b" t="t" l="l"/>
            <a:pathLst>
              <a:path h="2963202" w="3947896">
                <a:moveTo>
                  <a:pt x="0" y="0"/>
                </a:moveTo>
                <a:lnTo>
                  <a:pt x="3947896" y="0"/>
                </a:lnTo>
                <a:lnTo>
                  <a:pt x="3947896" y="2963202"/>
                </a:lnTo>
                <a:lnTo>
                  <a:pt x="0" y="2963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62645" y="586290"/>
            <a:ext cx="7198765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000000"/>
                </a:solidFill>
                <a:latin typeface="Magz"/>
                <a:ea typeface="Magz"/>
                <a:cs typeface="Magz"/>
                <a:sym typeface="Magz"/>
              </a:rPr>
              <a:t>ARQUITECTURAS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6686" y="2245614"/>
            <a:ext cx="8794981" cy="701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48"/>
              </a:lnSpc>
              <a:spcBef>
                <a:spcPct val="0"/>
              </a:spcBef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Flutter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—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sol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base de código para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vistas de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DJ y Participante.</a:t>
            </a: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Node.js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Express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1267"/>
              </a:lnSpc>
            </a:pP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ase de datos: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PostgreSQL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delo re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cional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usuarios, ev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tos,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solici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udes y transacciones.</a:t>
            </a:r>
          </a:p>
          <a:p>
            <a:pPr algn="l">
              <a:lnSpc>
                <a:spcPts val="1267"/>
              </a:lnSpc>
            </a:pP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iempo real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WebSockets (Socket.io)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la cola de solicitudes en vivo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1267"/>
              </a:lnSpc>
            </a:pP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Pagos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Transbank Webpay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 el esquema de "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captura condicionada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retiene el monto, se cobr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solo al aceptar).</a:t>
            </a:r>
          </a:p>
          <a:p>
            <a:pPr algn="l">
              <a:lnSpc>
                <a:spcPts val="1267"/>
              </a:lnSpc>
            </a:pP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musical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iTunes Search API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—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solo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metadatos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(portada, título, artista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para r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ducción.</a:t>
            </a:r>
          </a:p>
          <a:p>
            <a:pPr algn="l">
              <a:lnSpc>
                <a:spcPts val="1267"/>
              </a:lnSpc>
            </a:pPr>
          </a:p>
          <a:p>
            <a:pPr algn="l" marL="547306" indent="-273653" lvl="1">
              <a:lnSpc>
                <a:spcPts val="3548"/>
              </a:lnSpc>
              <a:spcBef>
                <a:spcPct val="0"/>
              </a:spcBef>
              <a:buFont typeface="Arial"/>
              <a:buChar char="•"/>
            </a:pP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Hosti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g: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Railway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aprovechando su capa gratuita para el desarrollo</a:t>
            </a:r>
            <a:r>
              <a:rPr lang="en-US" sz="25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342" y="4829419"/>
            <a:ext cx="8797658" cy="193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FLUJO</a:t>
            </a:r>
          </a:p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CLIENTE- SERVIDOR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57358" y="5095875"/>
            <a:ext cx="8127783" cy="446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9"/>
              </a:lnSpc>
              <a:spcBef>
                <a:spcPct val="0"/>
              </a:spcBef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sola ap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(Fl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tt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r),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 dos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io de sesi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Partic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nte y DJ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 marL="0" indent="0" lvl="0">
              <a:lnSpc>
                <a:spcPts val="1278"/>
              </a:lnSpc>
            </a:pPr>
          </a:p>
          <a:p>
            <a:pPr algn="just" marL="0" indent="0" lvl="0">
              <a:lnSpc>
                <a:spcPts val="3579"/>
              </a:lnSpc>
              <a:spcBef>
                <a:spcPct val="0"/>
              </a:spcBef>
            </a:pP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Ambo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se comunic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mismo Backend (Node.js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/Exp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ress) por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REST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WebSo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cket.</a:t>
            </a:r>
          </a:p>
          <a:p>
            <a:pPr algn="just" marL="0" indent="0" lvl="0">
              <a:lnSpc>
                <a:spcPts val="1278"/>
              </a:lnSpc>
            </a:pPr>
          </a:p>
          <a:p>
            <a:pPr algn="l" marL="551952" indent="-275976" lvl="1">
              <a:lnSpc>
                <a:spcPts val="3579"/>
              </a:lnSpc>
              <a:spcBef>
                <a:spcPct val="0"/>
              </a:spcBef>
              <a:buFont typeface="Arial"/>
              <a:buChar char="•"/>
            </a:pP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ackend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⟶ Po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stg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reSQL (dato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s), Tra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nsbank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(pagos), iTunes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 API (met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adato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music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ales).</a:t>
            </a:r>
          </a:p>
          <a:p>
            <a:pPr algn="l">
              <a:lnSpc>
                <a:spcPts val="1278"/>
              </a:lnSpc>
            </a:pPr>
          </a:p>
          <a:p>
            <a:pPr algn="l" marL="551952" indent="-275976" lvl="1">
              <a:lnSpc>
                <a:spcPts val="3579"/>
              </a:lnSpc>
              <a:spcBef>
                <a:spcPct val="0"/>
              </a:spcBef>
              <a:buFont typeface="Arial"/>
              <a:buChar char="•"/>
            </a:pP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Ninguna vi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accede directamen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la bas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d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datos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 a las API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extern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todo pas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por el ba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ckend, que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 qu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lida y 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uten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81311" y="0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4117" y="25517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2337" y="7191561"/>
            <a:ext cx="674696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RIESGOS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0676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01.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94241"/>
            <a:ext cx="3859566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Cobrar por la reproducción de una canción específica entra en conflicto con los Términos de Servicio de Spotify y YouTube.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64475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690231"/>
            <a:ext cx="3859566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Técnico: Latencia o caída de red en el evento: Reconexión automática y cola local temporal.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24550" y="1715235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24550" y="2394241"/>
            <a:ext cx="3859566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Gestión: Subestimar el tiempo de integración de pagos: se reservó un sprint completo y temprano en el calendario, no al final.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4550" y="6007603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24550" y="6690231"/>
            <a:ext cx="3859566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Concurrencia: Dos solicitudes de la misma canción a la vez: transacciones atómicas y bloqueo optimista en el backend.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4117" y="25517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1783" y="1190625"/>
            <a:ext cx="674696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SEGURIDAD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1783" y="3125170"/>
            <a:ext cx="7854744" cy="31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1"/>
              </a:lnSpc>
            </a:pPr>
            <a:r>
              <a:rPr lang="en-US" sz="21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datos de pago nunca se almacenan en BudSound: El registro y cobro de tarjetas se procesa siempre a través del flujo oficial de Transbank, que se encarga de la tokenización.</a:t>
            </a:r>
          </a:p>
          <a:p>
            <a:pPr algn="just">
              <a:lnSpc>
                <a:spcPts val="3011"/>
              </a:lnSpc>
            </a:pPr>
          </a:p>
          <a:p>
            <a:pPr algn="l" marL="464452" indent="-232226" lvl="1">
              <a:lnSpc>
                <a:spcPts val="3011"/>
              </a:lnSpc>
              <a:buFont typeface="Arial"/>
              <a:buChar char="•"/>
            </a:pPr>
            <a:r>
              <a:rPr lang="en-US" sz="21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datos personales se manejan bajo minimización de datos y cumplimiento de la Ley 21.719.</a:t>
            </a:r>
          </a:p>
          <a:p>
            <a:pPr algn="just">
              <a:lnSpc>
                <a:spcPts val="1075"/>
              </a:lnSpc>
            </a:pPr>
          </a:p>
          <a:p>
            <a:pPr algn="l" marL="464452" indent="-232226" lvl="1">
              <a:lnSpc>
                <a:spcPts val="3011"/>
              </a:lnSpc>
              <a:spcBef>
                <a:spcPct val="0"/>
              </a:spcBef>
              <a:buFont typeface="Arial"/>
              <a:buChar char="•"/>
            </a:pPr>
            <a:r>
              <a:rPr lang="en-US" sz="21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Política de Privacidad clara y consentimiento explícito del usuario.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57979" y="2843044"/>
            <a:ext cx="6663152" cy="193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ALCANCE DEL 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3050" y="5391150"/>
            <a:ext cx="6438900" cy="266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10"/>
              </a:lnSpc>
              <a:spcBef>
                <a:spcPct val="0"/>
              </a:spcBef>
            </a:pPr>
            <a:r>
              <a:rPr lang="en-US" sz="21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MVP cubre el ciclo completo: registro, evento vía QR, búsqueda y solicitud de canciones con monto opcional ($500–$20.000 CLP), cola en tiempo real y cobro condicionado a la aceptación del DJ. Excluye reproducción de audio en la app y perfil público del DJ. Modelo gratuito para el DJ; BudSound cobra 5%–10% de comisión sobre lo recaudado.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55956" y="8254956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8"/>
                </a:lnTo>
                <a:lnTo>
                  <a:pt x="0" y="200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Página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7411" y="3982112"/>
            <a:ext cx="7702824" cy="194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RELEVANCIA Y FACTIBILIAD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3056" y="6232569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01.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3056" y="6958326"/>
            <a:ext cx="4168645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Relevancia — El problema es real y observable: hoy no existe un canal ordenado para pedir canciones en vivo. BudSound beneficia tanto a DJs, que ganan una herramienta de trabajo, como a asistentes, que ganan un canal transparente.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61557" y="6232569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61557" y="6958326"/>
            <a:ext cx="416864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Factibilidad técnica y temporal — Stack maduro y bien documentado; el trabajo calza en 7 sprints dentro de las 18 semanas del ramo, cubierto con capas gratuitas de los proveedores.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76299" y="6232569"/>
            <a:ext cx="916695" cy="58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4441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03.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76299" y="6958326"/>
            <a:ext cx="416864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Factibilidad legal — Detectamos a tiempo un riesgo real de conflicto con los Términos de Servicio de las plataformas musicales y lo resolvimos antes de programar: es el aporte diferenciador del proyecto.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55956" y="4140156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8" y="0"/>
                </a:lnTo>
                <a:lnTo>
                  <a:pt x="2006688" y="2006688"/>
                </a:lnTo>
                <a:lnTo>
                  <a:pt x="0" y="200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654997" y="806462"/>
            <a:ext cx="8278823" cy="993188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1393" y="-640217"/>
            <a:ext cx="6605214" cy="1156743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2272503"/>
            <a:ext cx="674696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MOCKUPS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8633" y="161925"/>
            <a:ext cx="463073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MOCKUPS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1508" y="479819"/>
            <a:ext cx="5468368" cy="957652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30589" y="479819"/>
            <a:ext cx="5468368" cy="957652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969670" y="410625"/>
            <a:ext cx="5468368" cy="9576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8633" y="161925"/>
            <a:ext cx="463073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MOCKUPS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9890" y="1464809"/>
            <a:ext cx="5293749" cy="927072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242787" y="1464809"/>
            <a:ext cx="5293749" cy="927072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85464" y="1464809"/>
            <a:ext cx="5293749" cy="927072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19868" y="1464809"/>
            <a:ext cx="5293749" cy="927072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48223" y="1190625"/>
            <a:ext cx="463073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DJ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960" y="4612685"/>
            <a:ext cx="6746963" cy="104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MOCKUPS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064342" y="-338182"/>
            <a:ext cx="6159317" cy="1078655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20912" y="-338182"/>
            <a:ext cx="6159317" cy="107865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342" y="5058019"/>
            <a:ext cx="8797658" cy="10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7958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45984" y="6054991"/>
            <a:ext cx="9793803" cy="265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Detectamos un problema rea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l, encontr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 un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nflic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legal antes de programar una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ola lín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código, lo resolvimos, y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tenemos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p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ecto técnica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ente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sól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do, 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mente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y f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cti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de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truir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las 18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emanas del ramo. BudSound convierte una dinámica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mal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experien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cia ordenada, segura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m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ible 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56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DJs y asistentes.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81311" y="0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6013272" y="-202136"/>
            <a:ext cx="6771080" cy="10691272"/>
            <a:chOff x="0" y="0"/>
            <a:chExt cx="1783330" cy="28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3330" cy="2815808"/>
            </a:xfrm>
            <a:custGeom>
              <a:avLst/>
              <a:gdLst/>
              <a:ahLst/>
              <a:cxnLst/>
              <a:rect r="r" b="b" t="t" l="l"/>
              <a:pathLst>
                <a:path h="2815808" w="1783330">
                  <a:moveTo>
                    <a:pt x="0" y="0"/>
                  </a:moveTo>
                  <a:lnTo>
                    <a:pt x="1783330" y="0"/>
                  </a:lnTo>
                  <a:lnTo>
                    <a:pt x="1783330" y="2815808"/>
                  </a:lnTo>
                  <a:lnTo>
                    <a:pt x="0" y="281580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3330" cy="285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33271" y="3223649"/>
            <a:ext cx="14331082" cy="360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0"/>
              </a:lnSpc>
              <a:spcBef>
                <a:spcPct val="0"/>
              </a:spcBef>
            </a:pPr>
            <a:r>
              <a:rPr lang="en-US" sz="20000">
                <a:solidFill>
                  <a:srgbClr val="FFFFFF"/>
                </a:solidFill>
                <a:latin typeface="Magz"/>
                <a:ea typeface="Magz"/>
                <a:cs typeface="Magz"/>
                <a:sym typeface="Magz"/>
              </a:rPr>
              <a:t>GRACIAS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41770" y="4749196"/>
            <a:ext cx="6479083" cy="6479083"/>
          </a:xfrm>
          <a:custGeom>
            <a:avLst/>
            <a:gdLst/>
            <a:ahLst/>
            <a:cxnLst/>
            <a:rect r="r" b="b" t="t" l="l"/>
            <a:pathLst>
              <a:path h="6479083" w="6479083">
                <a:moveTo>
                  <a:pt x="0" y="0"/>
                </a:moveTo>
                <a:lnTo>
                  <a:pt x="6479083" y="0"/>
                </a:lnTo>
                <a:lnTo>
                  <a:pt x="6479083" y="6479083"/>
                </a:lnTo>
                <a:lnTo>
                  <a:pt x="0" y="647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81311" y="0"/>
            <a:ext cx="2006689" cy="2006689"/>
          </a:xfrm>
          <a:custGeom>
            <a:avLst/>
            <a:gdLst/>
            <a:ahLst/>
            <a:cxnLst/>
            <a:rect r="r" b="b" t="t" l="l"/>
            <a:pathLst>
              <a:path h="2006689" w="2006689">
                <a:moveTo>
                  <a:pt x="0" y="0"/>
                </a:moveTo>
                <a:lnTo>
                  <a:pt x="2006689" y="0"/>
                </a:lnTo>
                <a:lnTo>
                  <a:pt x="2006689" y="2006689"/>
                </a:lnTo>
                <a:lnTo>
                  <a:pt x="0" y="2006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DAHT2Smh3m4</dc:identifier>
  <dcterms:modified xsi:type="dcterms:W3CDTF">2011-08-01T06:04:30Z</dcterms:modified>
  <cp:revision>1</cp:revision>
  <dc:title>BudSound</dc:title>
</cp:coreProperties>
</file>